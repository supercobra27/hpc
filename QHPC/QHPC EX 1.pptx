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4" r:id="rId32"/>
    <p:sldId id="29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3490-C810-B168-E315-E937A94BD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01830-FE26-A87A-532D-55CE4DC82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6866-D434-9A8D-9018-06C107AE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2EE96-C90D-4B58-02CC-3738FC51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FDB49-4FC4-CB4B-39C8-876224FB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994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8482-5895-2669-62B3-3868BE10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A21A3-4A90-4C47-DA1B-D94A2356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25C5E-5324-92B3-67F9-BB0B8B815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B8617-CDBD-D50C-348F-CFC7AE05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C9715-C574-878D-7912-896FD5E2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616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6056-BED4-1D84-01D5-088AC90A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DF88B-9F41-6943-FB48-F7B5E4475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1A88-F9EA-958C-F2AB-D014E48D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F7F5A-F551-437E-DBE4-11AC4463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505EA-F0FD-CE94-0B84-B256743B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5415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5236-975D-3A69-EACA-703408BD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1F0A1-0C29-235E-6DB4-9CA3C1F94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7665B-9179-CFD9-EB1C-9FE96D171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7DEE2-A445-1333-9AC5-4BFDCE71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6872F-9332-0F19-58E6-22A12EC9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1F665-F1CA-069F-8D19-92971822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216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7568-3590-12EC-AAD1-977E736B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839E0-F1D5-CBB5-0FBE-12F5DD204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9776A-FF4D-AD62-4F01-3081AE28C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65E32-7196-70AF-4D73-AC226B097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16CB5F-34AE-4FC7-6293-BD1022E08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5C328-9B37-3FFF-D307-D49D588F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DD16F1-3B84-B541-95C8-EF71BD98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16523-C1CF-730C-C0EA-B612EB7E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127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5CC7-D853-7298-B48C-F1AE0C37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57EF-897D-6AC1-FE02-13F08B2E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1D175-292A-1BCF-5098-C9DB3AEA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65AE2-1803-0D75-D8BB-267868710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25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74CDB-8CAD-AD58-4AB7-163C32CD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1B2A3-96DF-E0EF-ED31-9C4E9923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676A9-6BFB-6E50-16DD-B2E4C471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27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A662-7DCE-0A80-5217-BC8AF477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FDC6B-06B5-FFD7-4472-2410726EC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679FD-C1F2-2E80-B9D2-07BF6F39C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17AA1-934C-1CF0-5A60-6DCCCA6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11199-85F1-DB24-924A-B66149A0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361A6-14F9-1293-F766-26E29C99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5184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CAB6-6C8C-403E-8558-8D815DDB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99B6AC-52D5-D2F9-70A3-621415819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07D84-7DD4-E71F-3669-5D10B8C6F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5CE02-405C-E9A2-3745-BD25D805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43FD9-36D2-943A-8BD9-086F053C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4BCB-76CF-091F-20B4-19807C89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138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A0ED-0807-C21B-5359-09B73FA0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572E2-6A61-B0EE-BD73-20F84517C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B00C-E71C-AB22-C795-F06E7CFF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D1919-1960-3381-75B7-AE5270C1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F4A7B-3FF9-3F1E-0050-8A12892A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116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ACA2C-7C3F-F16D-685F-53A637D8F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6FE11-1DE7-6E58-9864-E40812CA1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8F432-238F-84A8-67B8-B845DC43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7546B-5979-B669-5D3B-0EF29F1D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59B30-3449-EE42-7353-FB440F11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966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CDCD8-B9F5-F420-AC58-37ACF6D2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06314-9C08-748A-649F-56C11D22C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E5C2E-B5D7-CFC3-3C1C-281FBE0B6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E6A52-F023-47F0-B979-1869D8128294}" type="datetimeFigureOut">
              <a:rPr lang="en-CA" smtClean="0"/>
              <a:t>2026-01-23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53853-69FC-EC94-8B1B-4F6BB5588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AAFDB-EC0C-2629-1CA0-0C9AA8179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DB8D2-2E5C-44FA-A4DD-143E22C3B4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579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2965-AD82-B202-2BDB-45AB721B76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QHPC EX #1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F8D7A-F24A-83A7-CA6D-DFC9969DDD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Ryan Silverberg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756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F64D-F7C2-DC60-E074-E01B3B83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A412A-012C-9277-5D19-C3A9264E8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HPC exist?</a:t>
            </a:r>
          </a:p>
          <a:p>
            <a:r>
              <a:rPr lang="en-US" dirty="0"/>
              <a:t>Parallel Programming</a:t>
            </a:r>
          </a:p>
          <a:p>
            <a:r>
              <a:rPr lang="en-US" dirty="0"/>
              <a:t>Scalability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7051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9D4F-7C29-CEE0-CF53-6D50B86D8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Challenge Problems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5C0649-1C0A-4CD1-2089-F70ED8D82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271" y="1690688"/>
            <a:ext cx="6079457" cy="472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6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2278-830F-131B-2E68-93A73237A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Moore’s Law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8D182-50A3-F40C-0FC9-E65142257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ILP</a:t>
            </a:r>
          </a:p>
          <a:p>
            <a:endParaRPr lang="en-US" dirty="0"/>
          </a:p>
          <a:p>
            <a:r>
              <a:rPr lang="en-US" dirty="0"/>
              <a:t>Performance is flattening out</a:t>
            </a:r>
          </a:p>
          <a:p>
            <a:endParaRPr lang="en-US" dirty="0"/>
          </a:p>
          <a:p>
            <a:r>
              <a:rPr lang="en-CA" dirty="0"/>
              <a:t>MPP, DLP, TLP, DSAs</a:t>
            </a:r>
          </a:p>
        </p:txBody>
      </p:sp>
    </p:spTree>
    <p:extLst>
      <p:ext uri="{BB962C8B-B14F-4D97-AF65-F5344CB8AC3E}">
        <p14:creationId xmlns:p14="http://schemas.microsoft.com/office/powerpoint/2010/main" val="201659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1DF2-DE34-30BA-E578-F39EB0C8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AF694-61B7-6BE3-1173-3D91287D9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Vector Machines</a:t>
            </a:r>
          </a:p>
          <a:p>
            <a:endParaRPr lang="en-US" dirty="0"/>
          </a:p>
          <a:p>
            <a:r>
              <a:rPr lang="en-US" dirty="0"/>
              <a:t>MPPs</a:t>
            </a:r>
          </a:p>
          <a:p>
            <a:endParaRPr lang="en-US" dirty="0"/>
          </a:p>
          <a:p>
            <a:r>
              <a:rPr lang="en-US" dirty="0"/>
              <a:t>SMPs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NUMA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Clusters (86.2% of Top500)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536FF-3F40-112C-CBEE-A077F5C2B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894" y="1690688"/>
            <a:ext cx="70104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0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5ED64-B6C8-1464-4084-A7A17540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Programs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F03E4-46F0-5D81-63D7-275C75211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0932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22656B-69E7-9718-92F7-586972F6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make a parallel program?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7A4C45-355B-DDA3-F90B-FB5745503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5D4CEE-0D37-6956-F33E-A0F245698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693" y="2055812"/>
            <a:ext cx="7700864" cy="389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73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D093-0891-5C88-1B13-1888DE90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Models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CEB3-1485-70CD-F9D6-1A7A8C527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  <a:p>
            <a:r>
              <a:rPr lang="en-US" dirty="0"/>
              <a:t>Message Passing</a:t>
            </a:r>
          </a:p>
          <a:p>
            <a:r>
              <a:rPr lang="en-US" dirty="0"/>
              <a:t>Data Parallel</a:t>
            </a:r>
          </a:p>
          <a:p>
            <a:r>
              <a:rPr lang="en-US" dirty="0"/>
              <a:t>Bulk Synchronous</a:t>
            </a:r>
          </a:p>
          <a:p>
            <a:r>
              <a:rPr lang="en-US" dirty="0"/>
              <a:t>PGAS</a:t>
            </a:r>
          </a:p>
          <a:p>
            <a:r>
              <a:rPr lang="en-US" dirty="0"/>
              <a:t>Hybrid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63C15-7D46-A391-AEF3-CC9D5AAB42D3}"/>
              </a:ext>
            </a:extLst>
          </p:cNvPr>
          <p:cNvSpPr txBox="1"/>
          <p:nvPr/>
        </p:nvSpPr>
        <p:spPr>
          <a:xfrm>
            <a:off x="6481011" y="2800965"/>
            <a:ext cx="4684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What is the cost of communication?</a:t>
            </a:r>
            <a:endParaRPr lang="en-CA" sz="3600" b="1" dirty="0"/>
          </a:p>
        </p:txBody>
      </p:sp>
    </p:spTree>
    <p:extLst>
      <p:ext uri="{BB962C8B-B14F-4D97-AF65-F5344CB8AC3E}">
        <p14:creationId xmlns:p14="http://schemas.microsoft.com/office/powerpoint/2010/main" val="336683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6124-6DAF-2653-DD17-B2E7668A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DD00-3BB5-3836-B0A2-1BD2E0A8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C55A8-2BE2-1DD2-6D04-D8DDE9BFA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406" y="1685924"/>
            <a:ext cx="3187339" cy="17430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25B73-AC98-C405-A387-F0B13B2A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88" y="3429000"/>
            <a:ext cx="8600576" cy="283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9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F706-E804-525C-0C41-1F7AF1E1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25E1-9634-E563-B7CF-281D4E09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</a:t>
            </a:r>
            <a:r>
              <a:rPr lang="en-US" dirty="0"/>
              <a:t>: Both threads can write at the same time (</a:t>
            </a:r>
            <a:r>
              <a:rPr lang="en-US" b="1" dirty="0"/>
              <a:t>race condition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We need synchronization, only one has control at a time.</a:t>
            </a:r>
          </a:p>
        </p:txBody>
      </p:sp>
    </p:spTree>
    <p:extLst>
      <p:ext uri="{BB962C8B-B14F-4D97-AF65-F5344CB8AC3E}">
        <p14:creationId xmlns:p14="http://schemas.microsoft.com/office/powerpoint/2010/main" val="378762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9EC1-F791-BB25-7C6C-BC203FF3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780FA-74DC-41EB-9934-4FFC9B84F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Named Processes</a:t>
            </a:r>
          </a:p>
          <a:p>
            <a:r>
              <a:rPr lang="en-US" dirty="0"/>
              <a:t>Data transfer is explicit</a:t>
            </a:r>
          </a:p>
          <a:p>
            <a:r>
              <a:rPr lang="en-US" dirty="0"/>
              <a:t>Coordination is implicit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14AB6-55C1-0A87-FA48-1E2D62A37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981269"/>
            <a:ext cx="6773779" cy="319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48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8AB5-2ACB-311C-EBEE-834E597B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91835-775E-8635-09E6-86637A48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of 100k numbers on 100 processors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CE130-B2DC-2D3D-F6B9-8254437C5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32" y="3215188"/>
            <a:ext cx="9940735" cy="20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89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F094-3132-2693-E36D-C2DBFB2A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CDDD-10AD-8096-8714-75E1A076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5A4D4-7A01-9F21-B1CE-2CD5EDF50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of 100k numbers on 100 processors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38C01-68FF-C4AF-89F3-4C570B196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848" y="3429000"/>
            <a:ext cx="7012303" cy="184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36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E795-3AE5-ABF3-F7F7-CBFE4DCE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92E5-9CD7-2935-3418-2BCEB8EE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49982-9AFC-DD63-EAAF-2E13D3F42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of 100k numbers on 100 processors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BFE64-DE37-E9C6-2137-DD95F88F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62" y="3061786"/>
            <a:ext cx="9283510" cy="300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60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6309-F6A9-46BA-8081-E985D448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A17F8-FB1C-B7C7-5C9B-E97A74E8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DDCD-D4AC-EEF7-83B2-F1D244CC4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of 100k numbers on 100 processors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59808F-84ED-D8EB-3B81-B210C7FEE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900"/>
          <a:stretch>
            <a:fillRect/>
          </a:stretch>
        </p:blipFill>
        <p:spPr>
          <a:xfrm>
            <a:off x="3409950" y="2575009"/>
            <a:ext cx="5372100" cy="34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FC2F-EC1A-EA49-16A2-C260C69C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Paradigm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09F30-8639-A8E1-D36F-6C9F44D0A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all about </a:t>
            </a:r>
            <a:r>
              <a:rPr lang="en-US" b="1" dirty="0"/>
              <a:t>exchanging messages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Think of it like a process can receive and send mail.</a:t>
            </a:r>
          </a:p>
          <a:p>
            <a:endParaRPr lang="en-US" dirty="0"/>
          </a:p>
          <a:p>
            <a:r>
              <a:rPr lang="en-US" b="1" dirty="0"/>
              <a:t>Analogy:</a:t>
            </a:r>
            <a:r>
              <a:rPr lang="en-US" dirty="0"/>
              <a:t> Houses can send mail to each other, but have unique interiors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041661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41CC-4D7E-A7D7-860A-5C7E219D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process?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91590-C34A-9589-57EB-A570165CC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964AC-0F12-3F01-DD69-ECDD80726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189" y="2429669"/>
            <a:ext cx="3286125" cy="3143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112A4-7F30-C5C2-5305-75A4544D7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23" y="2779294"/>
            <a:ext cx="3993230" cy="256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18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3548-C629-3B8E-4770-16414A2F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make MPI work?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00067-E3FD-0032-55A1-8E87BE557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separate processes and a way to manage messages</a:t>
            </a:r>
          </a:p>
          <a:p>
            <a:endParaRPr lang="en-US" dirty="0"/>
          </a:p>
          <a:p>
            <a:r>
              <a:rPr lang="en-US" dirty="0"/>
              <a:t>We care abut static (SPMD), MPMD outside scope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717BF-A42A-56FB-F51F-76246E83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2" y="3673475"/>
            <a:ext cx="261937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85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2448-BE79-5A97-0D53-470323DC3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 Hello World!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597ACC-6FCC-8A26-9598-F2EC33DF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56BD3-32B0-6091-B6B7-B2967569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91" y="1825625"/>
            <a:ext cx="5392904" cy="45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20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DA43-81E2-A9BA-02AA-E389A02A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Pt2pt &amp; collectives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66F8B-3828-A80E-2901-5132772BA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471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8FE471-2D84-2923-2EBA-4B1C51C2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Point to Point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03A96-766C-666C-FAEB-B40E94BE6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Transfer &amp; Synchronize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98F66-4A8B-43D2-CDEA-10D00FBD1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94" y="2447673"/>
            <a:ext cx="6662011" cy="35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02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FDC5A-DE7E-2FA5-5A82-4F09B56F5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vs Non-blocking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E45DA-B6B9-85D1-82DE-B69498619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Blocking – uses message buffer</a:t>
            </a:r>
          </a:p>
          <a:p>
            <a:r>
              <a:rPr lang="en-US" dirty="0"/>
              <a:t>Non-blocking – immediate return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486BE-D93A-6154-AF35-275EF2CE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86" y="3429000"/>
            <a:ext cx="6288967" cy="2446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EE00F-FEEA-0FFB-4350-856F031A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472" y="3589421"/>
            <a:ext cx="41624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88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964BF-093F-167F-E707-814D85B3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Communicators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5E34C-47FC-E882-C086-E8FEC9BD1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scope of the communication operation?</a:t>
            </a:r>
          </a:p>
          <a:p>
            <a:endParaRPr lang="en-US" dirty="0"/>
          </a:p>
          <a:p>
            <a:r>
              <a:rPr lang="en-US" dirty="0"/>
              <a:t>Originally all processes exist in </a:t>
            </a:r>
            <a:r>
              <a:rPr lang="en-US" b="1" dirty="0"/>
              <a:t>MPI_COMM_WORLD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 can split this.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0285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172D-FB98-CE30-6F94-F29F6A2E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F78C-138E-57E6-3D81-E37AB6B74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Blocking</a:t>
            </a:r>
          </a:p>
          <a:p>
            <a:pPr marL="0" indent="0">
              <a:buNone/>
            </a:pPr>
            <a:r>
              <a:rPr lang="en-US" dirty="0" err="1"/>
              <a:t>MPI_Send</a:t>
            </a:r>
            <a:r>
              <a:rPr lang="en-US" dirty="0"/>
              <a:t> – Returns upon local completion</a:t>
            </a:r>
          </a:p>
          <a:p>
            <a:pPr marL="0" indent="0">
              <a:buNone/>
            </a:pPr>
            <a:r>
              <a:rPr lang="en-US" dirty="0" err="1"/>
              <a:t>MPI_Recv</a:t>
            </a:r>
            <a:r>
              <a:rPr lang="en-US" dirty="0"/>
              <a:t> – Blocks until a message is received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MPI_Isend</a:t>
            </a:r>
            <a:r>
              <a:rPr lang="en-US" dirty="0"/>
              <a:t> – Immediate return even if source location is unable to be altered</a:t>
            </a:r>
          </a:p>
          <a:p>
            <a:pPr marL="0" indent="0">
              <a:buNone/>
            </a:pPr>
            <a:r>
              <a:rPr lang="en-US" dirty="0" err="1"/>
              <a:t>MPI_Irecv</a:t>
            </a:r>
            <a:r>
              <a:rPr lang="en-US" dirty="0"/>
              <a:t> – Returns even if no message exists to receive</a:t>
            </a:r>
          </a:p>
          <a:p>
            <a:pPr marL="0" indent="0">
              <a:buNone/>
            </a:pPr>
            <a:r>
              <a:rPr lang="en-US" dirty="0" err="1"/>
              <a:t>MPI_Wait</a:t>
            </a:r>
            <a:r>
              <a:rPr lang="en-US" dirty="0"/>
              <a:t> – Waits until operations are done (after nonblocking)</a:t>
            </a:r>
          </a:p>
        </p:txBody>
      </p:sp>
    </p:spTree>
    <p:extLst>
      <p:ext uri="{BB962C8B-B14F-4D97-AF65-F5344CB8AC3E}">
        <p14:creationId xmlns:p14="http://schemas.microsoft.com/office/powerpoint/2010/main" val="1985728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092A-4790-E8D3-E7E9-D4856CCD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Underlying Information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4AE1-3DD6-7DEF-EE4E-C543D090F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never lose a message</a:t>
            </a:r>
          </a:p>
          <a:p>
            <a:endParaRPr lang="en-US" dirty="0"/>
          </a:p>
          <a:p>
            <a:r>
              <a:rPr lang="en-US" dirty="0"/>
              <a:t>Messages will arrive in the order they were posted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dirty="0" err="1"/>
              <a:t>Recv</a:t>
            </a:r>
            <a:r>
              <a:rPr lang="en-US" dirty="0"/>
              <a:t> only gets </a:t>
            </a:r>
            <a:r>
              <a:rPr lang="en-US" b="1" dirty="0"/>
              <a:t>one </a:t>
            </a:r>
            <a:r>
              <a:rPr lang="en-US" dirty="0"/>
              <a:t>message</a:t>
            </a:r>
          </a:p>
          <a:p>
            <a:endParaRPr lang="en-US" dirty="0"/>
          </a:p>
          <a:p>
            <a:r>
              <a:rPr lang="en-US" dirty="0"/>
              <a:t>Length of received can be shorter than expected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1551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7D7E-CB5E-CAC0-2CF3-0FD81DE5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2F7D4-C484-48E6-D076-6D8DC8CB9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 on all processes</a:t>
            </a:r>
          </a:p>
          <a:p>
            <a:endParaRPr lang="en-US" dirty="0"/>
          </a:p>
          <a:p>
            <a:r>
              <a:rPr lang="en-US" dirty="0"/>
              <a:t>Gets called on all processes</a:t>
            </a:r>
          </a:p>
          <a:p>
            <a:endParaRPr lang="en-US" dirty="0"/>
          </a:p>
          <a:p>
            <a:r>
              <a:rPr lang="en-US" dirty="0"/>
              <a:t>May or may not synchronize everything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6429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5BD5-70BB-AE87-C0ED-F8EB7031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3A6B5-8AD6-F486-FAD0-B3788100A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E7E17-74C6-249C-CD85-C036BACB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100" y="2576805"/>
            <a:ext cx="8351799" cy="284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90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F73C-0890-9FCB-5192-969591AE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F31F-739F-68FD-16DB-FC832BE6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MPI_Gather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3F86E-709E-A9E1-9B40-3BACE41F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6683C-BD0F-368A-50F2-45A0CD56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762" y="2532814"/>
            <a:ext cx="8188475" cy="293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3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3353-A763-5128-FE69-ED945168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DE415-720E-0688-1DAF-FDD3B0B14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0FEDA-6C5B-100F-0EBD-5976703B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00" y="2379036"/>
            <a:ext cx="7993000" cy="324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65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72C01-249B-1E9E-4A65-4A518881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had…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D6324-9193-834C-8C1F-A06513F6A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million processes each summing two numbers?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2259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FD6E26-3C8F-7DF8-7275-8310757D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BSP Model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F5C1A6-2A4D-9766-13B3-8D19713D4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Supersteps</a:t>
            </a:r>
            <a:endParaRPr lang="en-US" dirty="0"/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Communication</a:t>
            </a:r>
          </a:p>
          <a:p>
            <a:pPr lvl="1"/>
            <a:r>
              <a:rPr lang="en-US" dirty="0"/>
              <a:t>Barrier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EABAE4-8FB1-31E8-B2E5-2CD8CD02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47173"/>
            <a:ext cx="3366084" cy="248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65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7CA6-FF3B-5A5E-41D1-74B0F522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Decomposition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F62BE-2102-7A4E-7C74-6AC24D858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CA" dirty="0"/>
              </a:p>
              <a:p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𝑠𝑦𝑛𝑐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F62BE-2102-7A4E-7C74-6AC24D858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716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A0BC2B-5DE7-E7CB-6CC5-0946C9DE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B0DDB-B36E-F227-3237-DF8407C6B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2" y="1977189"/>
            <a:ext cx="6238875" cy="399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35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DAA4-9E09-4281-1E3C-A7C930E8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2F14FF-0D59-B8E5-A6E5-1EC8231D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007" y="2074570"/>
            <a:ext cx="9041985" cy="270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0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7E42-9A99-33F4-AC8C-6988ADF9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A780-D670-2E37-61C1-80251B87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EC2D4-19F4-AD65-2201-17C2C4A1F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76" y="2118017"/>
            <a:ext cx="8155447" cy="339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2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876D-D006-5418-CDFC-3F34F903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3B6D2-C10A-D0C2-E0AF-B4D19EBA6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workload</a:t>
            </a:r>
            <a:r>
              <a:rPr lang="en-CA" dirty="0"/>
              <a:t>, as such we can divide it…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4526A-FC70-F5FC-48D8-6A795D97EF10}"/>
              </a:ext>
            </a:extLst>
          </p:cNvPr>
          <p:cNvSpPr txBox="1"/>
          <p:nvPr/>
        </p:nvSpPr>
        <p:spPr>
          <a:xfrm>
            <a:off x="838200" y="18929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01FDD-C4FA-C82C-58B0-23962F5E0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30" y="3246024"/>
            <a:ext cx="10997370" cy="13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99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AB9C1-15F7-DE38-C13F-A1C573F7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Gustafson’s Law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9C47-90B4-FFC6-6F7C-3AD6315BA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size is no longer constant, should scale linearly</a:t>
            </a:r>
          </a:p>
          <a:p>
            <a:r>
              <a:rPr lang="en-US" dirty="0"/>
              <a:t>Now each processor has the workload </a:t>
            </a:r>
            <a:r>
              <a:rPr lang="en-US" b="1" dirty="0"/>
              <a:t>W</a:t>
            </a:r>
          </a:p>
          <a:p>
            <a:r>
              <a:rPr lang="en-US" dirty="0"/>
              <a:t>Also called scaled speedup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90B3E-8208-3174-A339-66F635F7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86" y="3429000"/>
            <a:ext cx="11477427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31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B934-170F-0346-E4EA-11CBCDA6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Sun and Ni’s Law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0B23-E3B7-CE7C-DEBD-C05FA93C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exists! We are limited by the space available</a:t>
            </a:r>
          </a:p>
          <a:p>
            <a:r>
              <a:rPr lang="en-US" dirty="0"/>
              <a:t>G(n) is the increase in workload as memory increases n times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G(n) =1, G(n) = n, G(n) &gt; n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0120B-CAC8-F960-67A7-6E8AD8C58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46245"/>
            <a:ext cx="6214186" cy="162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6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7994-4FE5-7D4D-4CDB-CF89F5C7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1F030-DDE5-4451-F8A1-A86F77DC1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Karp-Flatt Metric</a:t>
            </a:r>
          </a:p>
          <a:p>
            <a:r>
              <a:rPr lang="en-US" dirty="0"/>
              <a:t>Isoefficiency Metric/Relation</a:t>
            </a:r>
          </a:p>
          <a:p>
            <a:r>
              <a:rPr lang="en-US" dirty="0"/>
              <a:t>Scalability Function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07740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72514-77D4-244F-FD4C-69B39B19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5E47C-83BA-BA70-10D9-DBE01FB0A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100 numbers with MPI</a:t>
            </a:r>
          </a:p>
          <a:p>
            <a:r>
              <a:rPr lang="en-US" dirty="0"/>
              <a:t>Merge Sort with MPI</a:t>
            </a:r>
          </a:p>
          <a:p>
            <a:endParaRPr lang="en-US" dirty="0"/>
          </a:p>
          <a:p>
            <a:r>
              <a:rPr lang="en-US" dirty="0"/>
              <a:t>Look at MPI Docs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299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524</Words>
  <Application>Microsoft Office PowerPoint</Application>
  <PresentationFormat>Widescreen</PresentationFormat>
  <Paragraphs>137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Office Theme</vt:lpstr>
      <vt:lpstr>QHPC EX #1</vt:lpstr>
      <vt:lpstr>Agenda</vt:lpstr>
      <vt:lpstr>Grand Challenge Problems</vt:lpstr>
      <vt:lpstr>End of Moore’s Law</vt:lpstr>
      <vt:lpstr>Solutions</vt:lpstr>
      <vt:lpstr>Parallel Programs</vt:lpstr>
      <vt:lpstr>How do we make a parallel program?</vt:lpstr>
      <vt:lpstr>Programming Models</vt:lpstr>
      <vt:lpstr>Example</vt:lpstr>
      <vt:lpstr>Example</vt:lpstr>
      <vt:lpstr>Message Passing</vt:lpstr>
      <vt:lpstr>Example</vt:lpstr>
      <vt:lpstr>Example</vt:lpstr>
      <vt:lpstr>Example</vt:lpstr>
      <vt:lpstr>Example</vt:lpstr>
      <vt:lpstr>Message Passing Paradigm</vt:lpstr>
      <vt:lpstr>What is a process?</vt:lpstr>
      <vt:lpstr>How do we make MPI work?</vt:lpstr>
      <vt:lpstr>MPI Hello World!</vt:lpstr>
      <vt:lpstr>Pt2pt &amp; collectives</vt:lpstr>
      <vt:lpstr>Basic Point to Point</vt:lpstr>
      <vt:lpstr>Blocking vs Non-blocking</vt:lpstr>
      <vt:lpstr>Communicators</vt:lpstr>
      <vt:lpstr>Calls</vt:lpstr>
      <vt:lpstr>Underlying Information</vt:lpstr>
      <vt:lpstr>Collectives</vt:lpstr>
      <vt:lpstr>MPI_Scatter</vt:lpstr>
      <vt:lpstr>MPI_Gather</vt:lpstr>
      <vt:lpstr>MPI_Reduce</vt:lpstr>
      <vt:lpstr>What if we had…</vt:lpstr>
      <vt:lpstr>BSP Model</vt:lpstr>
      <vt:lpstr>Time Decomposition</vt:lpstr>
      <vt:lpstr>Scalability</vt:lpstr>
      <vt:lpstr>Scalability</vt:lpstr>
      <vt:lpstr>Scalability</vt:lpstr>
      <vt:lpstr>Amdahl’s Law</vt:lpstr>
      <vt:lpstr>Gustafson’s Law</vt:lpstr>
      <vt:lpstr>Sun and Ni’s Law</vt:lpstr>
      <vt:lpstr>Other Things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Silverberg</dc:creator>
  <cp:lastModifiedBy>Ryan Silverberg</cp:lastModifiedBy>
  <cp:revision>1</cp:revision>
  <dcterms:created xsi:type="dcterms:W3CDTF">2026-01-23T15:51:30Z</dcterms:created>
  <dcterms:modified xsi:type="dcterms:W3CDTF">2026-01-23T18:25:37Z</dcterms:modified>
</cp:coreProperties>
</file>